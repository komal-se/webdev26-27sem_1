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350" r:id="rId3"/>
    <p:sldId id="402" r:id="rId4"/>
    <p:sldId id="406" r:id="rId5"/>
    <p:sldId id="407" r:id="rId6"/>
    <p:sldId id="408" r:id="rId7"/>
    <p:sldId id="409" r:id="rId8"/>
    <p:sldId id="412" r:id="rId9"/>
    <p:sldId id="413" r:id="rId10"/>
    <p:sldId id="410" r:id="rId11"/>
    <p:sldId id="41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5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386" autoAdjust="0"/>
    <p:restoredTop sz="95256" autoAdjust="0"/>
  </p:normalViewPr>
  <p:slideViewPr>
    <p:cSldViewPr showGuides="1">
      <p:cViewPr>
        <p:scale>
          <a:sx n="240" d="100"/>
          <a:sy n="240" d="100"/>
        </p:scale>
        <p:origin x="-936" y="-25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378584-52B0-FC4D-AE45-7301D11129A4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81077D-BC7D-1E45-ACAB-88A9C84F9F6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A963F-0403-458F-8B8D-A5D5602BA06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A963F-0403-458F-8B8D-A5D5602BA06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A963F-0403-458F-8B8D-A5D5602BA06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A963F-0403-458F-8B8D-A5D5602BA06D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A963F-0403-458F-8B8D-A5D5602BA06D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A963F-0403-458F-8B8D-A5D5602BA06D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A963F-0403-458F-8B8D-A5D5602BA06D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A963F-0403-458F-8B8D-A5D5602BA06D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A963F-0403-458F-8B8D-A5D5602BA06D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A963F-0403-458F-8B8D-A5D5602BA06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A963F-0403-458F-8B8D-A5D5602BA06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BA963F-0403-458F-8B8D-A5D5602BA06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E8B6D-A843-4976-BA70-A811246CC566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/>
          <p:nvPr/>
        </p:nvSpPr>
        <p:spPr>
          <a:xfrm>
            <a:off x="407368" y="2519517"/>
            <a:ext cx="11377264" cy="917575"/>
          </a:xfrm>
          <a:prstGeom prst="rect">
            <a:avLst/>
          </a:prstGeom>
        </p:spPr>
        <p:txBody>
          <a:bodyPr/>
          <a:lstStyle/>
          <a:p>
            <a:pPr algn="ctr" defTabSz="685800">
              <a:buClr>
                <a:srgbClr val="5B9BD5"/>
              </a:buClr>
              <a:buSzPct val="70000"/>
              <a:defRPr/>
            </a:pPr>
            <a:r>
              <a:rPr lang="en-US" sz="5400" dirty="0">
                <a:solidFill>
                  <a:srgbClr val="FF0000"/>
                </a:solidFill>
              </a:rPr>
              <a:t> </a:t>
            </a:r>
            <a:r>
              <a:rPr lang="en-US" sz="5400" b="1" dirty="0">
                <a:solidFill>
                  <a:srgbClr val="FF0000"/>
                </a:solidFill>
              </a:rPr>
              <a:t>SOFT SKILLS</a:t>
            </a:r>
            <a:r>
              <a:rPr lang="en-US" sz="5400" dirty="0">
                <a:solidFill>
                  <a:srgbClr val="FF0000"/>
                </a:solidFill>
              </a:rPr>
              <a:t> </a:t>
            </a:r>
            <a:endParaRPr lang="en-US" sz="5400" dirty="0">
              <a:solidFill>
                <a:srgbClr val="FF0000"/>
              </a:solidFill>
            </a:endParaRPr>
          </a:p>
          <a:p>
            <a:pPr algn="ctr" defTabSz="685800">
              <a:buClr>
                <a:srgbClr val="5B9BD5"/>
              </a:buClr>
              <a:buSzPct val="70000"/>
              <a:defRPr/>
            </a:pPr>
            <a:r>
              <a:rPr lang="en-IN" altLang="en-US" sz="2800" b="1" dirty="0">
                <a:solidFill>
                  <a:srgbClr val="FF0000"/>
                </a:solidFill>
                <a:sym typeface="+mn-ea"/>
              </a:rPr>
              <a:t>25HU101/201</a:t>
            </a:r>
            <a:endParaRPr lang="en-IN" altLang="en-US" sz="2800" b="1" dirty="0">
              <a:solidFill>
                <a:srgbClr val="FF0000"/>
              </a:solidFill>
              <a:sym typeface="+mn-ea"/>
            </a:endParaRPr>
          </a:p>
          <a:p>
            <a:pPr algn="ctr" defTabSz="685800">
              <a:buClr>
                <a:srgbClr val="5B9BD5"/>
              </a:buClr>
              <a:buSzPct val="70000"/>
              <a:defRPr/>
            </a:pPr>
            <a:endParaRPr lang="en-US" sz="2800" b="1" dirty="0">
              <a:solidFill>
                <a:srgbClr val="FF0000"/>
              </a:solidFill>
            </a:endParaRPr>
          </a:p>
          <a:p>
            <a:pPr algn="ctr" defTabSz="685800">
              <a:buClr>
                <a:srgbClr val="5B9BD5"/>
              </a:buClr>
              <a:buSzPct val="70000"/>
              <a:defRPr/>
            </a:pPr>
            <a:r>
              <a:rPr lang="en-US" sz="2800" b="1" dirty="0">
                <a:solidFill>
                  <a:srgbClr val="0070C0"/>
                </a:solidFill>
              </a:rPr>
              <a:t>Unit </a:t>
            </a:r>
            <a:r>
              <a:rPr lang="en-IN" altLang="en-US" sz="2800" b="1" dirty="0">
                <a:solidFill>
                  <a:srgbClr val="0070C0"/>
                </a:solidFill>
              </a:rPr>
              <a:t>2</a:t>
            </a:r>
            <a:endParaRPr lang="en-US" sz="4000" dirty="0">
              <a:solidFill>
                <a:srgbClr val="0070C0"/>
              </a:solidFill>
            </a:endParaRPr>
          </a:p>
          <a:p>
            <a:pPr algn="ctr" defTabSz="685800">
              <a:buClr>
                <a:srgbClr val="5B9BD5"/>
              </a:buClr>
              <a:buSzPct val="70000"/>
              <a:defRPr/>
            </a:pPr>
            <a:r>
              <a:rPr lang="en-IN" altLang="en-US" sz="3600" dirty="0">
                <a:solidFill>
                  <a:srgbClr val="0070C0"/>
                </a:solidFill>
              </a:rPr>
              <a:t>Department of Applied Science and Humanities</a:t>
            </a:r>
            <a:endParaRPr lang="en-IN" altLang="en-US" sz="3600" dirty="0">
              <a:solidFill>
                <a:srgbClr val="0070C0"/>
              </a:solidFill>
            </a:endParaRPr>
          </a:p>
          <a:p>
            <a:pPr algn="ctr" defTabSz="685800">
              <a:buClr>
                <a:srgbClr val="5B9BD5"/>
              </a:buClr>
              <a:buSzPct val="70000"/>
              <a:defRPr/>
            </a:pPr>
            <a:r>
              <a:rPr lang="en-IN" altLang="en-US" sz="4000" dirty="0">
                <a:solidFill>
                  <a:srgbClr val="0070C0"/>
                </a:solidFill>
              </a:rPr>
              <a:t> </a:t>
            </a:r>
            <a:endParaRPr lang="en-IN" altLang="en-US" sz="4000" dirty="0">
              <a:solidFill>
                <a:srgbClr val="0070C0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143250" y="198882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defTabSz="685800">
              <a:buClr>
                <a:srgbClr val="5B9BD5"/>
              </a:buClr>
              <a:buSzPct val="70000"/>
              <a:defRPr/>
            </a:pPr>
            <a:r>
              <a:rPr lang="en-IN" altLang="en-US" sz="3200" b="1" dirty="0">
                <a:solidFill>
                  <a:schemeClr val="tx1"/>
                </a:solidFill>
                <a:sym typeface="+mn-ea"/>
              </a:rPr>
              <a:t>An Autonomous Institution</a:t>
            </a:r>
            <a:endParaRPr lang="en-IN" altLang="en-US" sz="3200" b="1" dirty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9285" y="548640"/>
            <a:ext cx="3307715" cy="13290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6900"/>
    </mc:Choice>
    <mc:Fallback>
      <p:transition spd="slow" advTm="469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7305"/>
            <a:ext cx="2400300" cy="96456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2400935" y="2115820"/>
            <a:ext cx="7080885" cy="2429510"/>
          </a:xfrm>
          <a:prstGeom prst="rect">
            <a:avLst/>
          </a:prstGeom>
        </p:spPr>
        <p:txBody>
          <a:bodyPr>
            <a:noAutofit/>
          </a:bodyPr>
          <a:p>
            <a:pPr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r>
              <a:rPr sz="24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 UNIT-02 </a:t>
            </a:r>
            <a:endParaRPr sz="24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r>
              <a:rPr sz="24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Listening Process, Types, Barriers, Traits of a Good Listener, and TED Talk Listening</a:t>
            </a:r>
            <a:endParaRPr sz="24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7305"/>
            <a:ext cx="2400300" cy="96456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1482725" y="1396365"/>
            <a:ext cx="4850765" cy="4662170"/>
          </a:xfrm>
          <a:prstGeom prst="rect">
            <a:avLst/>
          </a:prstGeom>
        </p:spPr>
        <p:txBody>
          <a:bodyPr>
            <a:noAutofit/>
          </a:bodyPr>
          <a:p>
            <a:pPr algn="just"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r>
              <a:rPr lang="en-US" altLang="en-US" sz="28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Listening Process</a:t>
            </a:r>
            <a:endParaRPr lang="en-US" altLang="en-US" sz="28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algn="just"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r>
              <a:rPr lang="en-US" altLang="en-US" sz="28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The listening process is the step-by-step method by which we receive, understand, and respond to spoken messages. It usually includes hearing, understanding, remembering, evaluating, and responding.</a:t>
            </a:r>
            <a:endParaRPr lang="en-US" altLang="en-US" sz="28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745" y="1557020"/>
            <a:ext cx="4479290" cy="428307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847850" y="6165215"/>
            <a:ext cx="926528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https://tenrycolle.com/skills/lisening/definition-and-stages-of-listening-process/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7305"/>
            <a:ext cx="2400300" cy="96456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2423795" y="1772920"/>
            <a:ext cx="7080885" cy="3048000"/>
          </a:xfrm>
          <a:prstGeom prst="rect">
            <a:avLst/>
          </a:prstGeom>
        </p:spPr>
        <p:txBody>
          <a:bodyPr>
            <a:noAutofit/>
          </a:bodyPr>
          <a:p>
            <a:pPr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r>
              <a:rPr sz="24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 </a:t>
            </a:r>
            <a:r>
              <a:rPr lang="en-US" altLang="en-US" sz="24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2.Modes of Listening:</a:t>
            </a:r>
            <a:endParaRPr lang="en-US" altLang="en-US" sz="24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r>
              <a:rPr lang="en-US" altLang="en-US" sz="24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 	1. Active Listening Mode: Fully concentrating and responding to the speaker.</a:t>
            </a:r>
            <a:endParaRPr lang="en-US" altLang="en-US" sz="24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r>
              <a:rPr lang="en-US" altLang="en-US" sz="24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	2 Passive Listening Mode: Listening but</a:t>
            </a:r>
            <a:r>
              <a:rPr lang="en-IN" altLang="en-US" sz="24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 not involved</a:t>
            </a:r>
            <a:r>
              <a:rPr lang="en-US" altLang="en-IN" sz="24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 or not asking or not clarifying</a:t>
            </a:r>
            <a:r>
              <a:rPr lang="en-US" altLang="en-US" sz="24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.</a:t>
            </a:r>
            <a:endParaRPr sz="24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7305"/>
            <a:ext cx="2400300" cy="96456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479425" y="260350"/>
            <a:ext cx="10772775" cy="3970655"/>
          </a:xfrm>
          <a:prstGeom prst="rect">
            <a:avLst/>
          </a:prstGeom>
        </p:spPr>
        <p:txBody>
          <a:bodyPr>
            <a:noAutofit/>
          </a:bodyPr>
          <a:p>
            <a:pPr algn="ctr"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r>
              <a:rPr sz="24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 </a:t>
            </a:r>
            <a:r>
              <a:rPr lang="en-US" altLang="en-US" sz="24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Types of Listening</a:t>
            </a:r>
            <a:endParaRPr lang="en-US" altLang="en-US" sz="24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r>
              <a:rPr lang="en-US" altLang="en-US" sz="24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Listening can take many forms depending on purpose and context</a:t>
            </a:r>
            <a:r>
              <a:rPr lang="en-IN" altLang="en-US" sz="24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 like</a:t>
            </a:r>
            <a:r>
              <a:rPr lang="en-US" altLang="en-US" sz="24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:</a:t>
            </a:r>
            <a:endParaRPr lang="en-US" altLang="en-US" sz="24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1.Informational Listening: Listening to learn and understand new information.</a:t>
            </a:r>
            <a:endParaRPr lang="en-US" altLang="en-US" sz="16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2.Discriminative listening: Instead of relying on words, discriminative listening focuses on tone of voice, verbal cues, body language, and other nuances.</a:t>
            </a:r>
            <a:endParaRPr lang="en-US" altLang="en-US" sz="16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3.Empathetic Listening: Understanding and sharing the speaker’s feelings.</a:t>
            </a:r>
            <a:endParaRPr lang="en-US" altLang="en-US" sz="16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4.Critical Listening: Evaluating the message for logic and credibility for problem solving.</a:t>
            </a:r>
            <a:endParaRPr lang="en-US" altLang="en-US" sz="16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5.Selective Listening: Focusing on specific parts of the message while ignoring others.</a:t>
            </a:r>
            <a:endParaRPr lang="en-US" altLang="en-US" sz="16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6.Appreciative Listening: Enjoying the sounds, such as music or storytelling.</a:t>
            </a:r>
            <a:endParaRPr lang="en-US" altLang="en-US" sz="16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7.Reflective Listening: actively demonstrate that you hear, understand, and process the speaker’s message. Then you communicate the information back to them to confirm it was understood correctly.</a:t>
            </a:r>
            <a:r>
              <a:rPr lang="en-US" altLang="en-US" sz="16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 </a:t>
            </a:r>
            <a:endParaRPr lang="en-US" altLang="en-US" sz="16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7305"/>
            <a:ext cx="2400300" cy="96456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931545" y="869315"/>
            <a:ext cx="10018395" cy="3951605"/>
          </a:xfrm>
          <a:prstGeom prst="rect">
            <a:avLst/>
          </a:prstGeom>
        </p:spPr>
        <p:txBody>
          <a:bodyPr>
            <a:noAutofit/>
          </a:bodyPr>
          <a:p>
            <a:pPr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r>
              <a:rPr sz="24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 </a:t>
            </a:r>
            <a:r>
              <a:rPr lang="en-US" altLang="en-US" sz="24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Listening Barriers</a:t>
            </a:r>
            <a:endParaRPr lang="en-US" altLang="en-US" sz="24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r>
              <a:rPr lang="en-US" altLang="en-US" sz="24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Barriers are factors that hinder effective listening and understanding. Here are six common types:</a:t>
            </a:r>
            <a:endParaRPr lang="en-US" altLang="en-US" sz="24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r>
              <a:rPr lang="en-US" altLang="en-US" sz="24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	1.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 Physical Barriers: External noise or environmental distractions (e.g., loud construction sounds).</a:t>
            </a:r>
            <a:endParaRPr lang="en-US" altLang="en-US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	2. Psychological Barriers: Mental distractions like stress, anger, or prejudices affecting focus.</a:t>
            </a:r>
            <a:endParaRPr lang="en-US" altLang="en-US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	3. Semantic Barriers: Misunderstandings caused by unclear language or jargon.</a:t>
            </a:r>
            <a:endParaRPr lang="en-US" altLang="en-US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	4. Physiological Barriers: Physical conditions such as hearing impairment or fatigue.</a:t>
            </a:r>
            <a:endParaRPr lang="en-US" altLang="en-US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	5. Language Barriers: Difficulty understanding due to unfamiliar accents or language differences.</a:t>
            </a:r>
            <a:endParaRPr lang="en-US" altLang="en-US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	6. Selective Listening: Hearing only what interests you and ignoring the rest.</a:t>
            </a:r>
            <a:endParaRPr lang="en-US" altLang="en-US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7305"/>
            <a:ext cx="2400300" cy="96456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920115" y="466090"/>
            <a:ext cx="10368915" cy="6002020"/>
          </a:xfrm>
          <a:prstGeom prst="rect">
            <a:avLst/>
          </a:prstGeom>
        </p:spPr>
        <p:txBody>
          <a:bodyPr>
            <a:noAutofit/>
          </a:bodyPr>
          <a:p>
            <a:pPr algn="ctr"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r>
              <a:rPr lang="en-US" altLang="en-US" sz="24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Traits of a Good Listener</a:t>
            </a:r>
            <a:endParaRPr lang="en-US" altLang="en-US" sz="24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r>
              <a:rPr lang="en-US" altLang="en-US" sz="20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Good listeners have qualities that help them understand and connect effectively. Six important traits are:</a:t>
            </a:r>
            <a:endParaRPr lang="en-US" altLang="en-US" sz="20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r>
              <a:rPr lang="en-US" altLang="en-US" sz="20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	1. Attentiveness: Fully focusing on the speaker without distractions.</a:t>
            </a:r>
            <a:endParaRPr lang="en-US" altLang="en-US" sz="20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r>
              <a:rPr lang="en-US" altLang="en-US" sz="20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	2. Patience: Allowing the speaker to finish without interrupting.</a:t>
            </a:r>
            <a:endParaRPr lang="en-US" altLang="en-US" sz="20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r>
              <a:rPr lang="en-US" altLang="en-US" sz="20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	3. Open-mindedness: Being willing to hear and consider different viewpoints.</a:t>
            </a:r>
            <a:endParaRPr lang="en-US" altLang="en-US" sz="20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r>
              <a:rPr lang="en-US" altLang="en-US" sz="20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	4. Empathy: Understanding and relating to the speaker’s emotions.</a:t>
            </a:r>
            <a:endParaRPr lang="en-US" altLang="en-US" sz="20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r>
              <a:rPr lang="en-US" altLang="en-US" sz="20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	5. Non-judgmental Attitude: Avoiding quick conclusions or biases while listening.</a:t>
            </a:r>
            <a:endParaRPr lang="en-US" altLang="en-US" sz="20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r>
              <a:rPr lang="en-US" altLang="en-US" sz="20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	6. Providing Feedback: Giving appropriate verbal or non-verbal responses to show understanding.</a:t>
            </a:r>
            <a:endParaRPr lang="en-US" altLang="en-US" sz="20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7305"/>
            <a:ext cx="2400300" cy="96456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739140" y="386080"/>
            <a:ext cx="10703560" cy="5971540"/>
          </a:xfrm>
          <a:prstGeom prst="rect">
            <a:avLst/>
          </a:prstGeom>
        </p:spPr>
        <p:txBody>
          <a:bodyPr>
            <a:noAutofit/>
          </a:bodyPr>
          <a:p>
            <a:pPr algn="ctr"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r>
              <a:rPr lang="en-US" altLang="en-US" sz="24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TED Talk Listening</a:t>
            </a:r>
            <a:endParaRPr lang="en-US" altLang="en-US" sz="24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r>
              <a:rPr lang="en-US" altLang="en-US" sz="20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A TED Talk is a short, powerful presentation where speakers share ideas, stories, or research on a variety of topics. Listening to TED Talks helps improve comprehension, critical thinking, and note-taking skills by exposing listeners to clear, engaging, and well-structured speeches.</a:t>
            </a:r>
            <a:endParaRPr lang="en-US" altLang="en-US" sz="20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defTabSz="266700">
              <a:lnSpc>
                <a:spcPct val="114000"/>
              </a:lnSpc>
              <a:spcBef>
                <a:spcPts val="2400"/>
              </a:spcBef>
              <a:spcAft>
                <a:spcPct val="0"/>
              </a:spcAft>
            </a:pPr>
            <a:endParaRPr lang="en-US" altLang="en-US" sz="20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lvl="2" defTabSz="266700">
              <a:lnSpc>
                <a:spcPct val="0"/>
              </a:lnSpc>
              <a:spcBef>
                <a:spcPts val="2400"/>
              </a:spcBef>
              <a:spcAft>
                <a:spcPts val="0"/>
              </a:spcAft>
            </a:pPr>
            <a:r>
              <a:rPr lang="en-US" altLang="en-US" sz="20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 1. Julian Treasure – “5 Ways to Listen Better” and summarise its message.</a:t>
            </a:r>
            <a:endParaRPr lang="en-US" altLang="en-US" sz="20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lvl="2" defTabSz="266700">
              <a:lnSpc>
                <a:spcPct val="0"/>
              </a:lnSpc>
              <a:spcBef>
                <a:spcPts val="2400"/>
              </a:spcBef>
              <a:spcAft>
                <a:spcPts val="0"/>
              </a:spcAft>
            </a:pPr>
            <a:r>
              <a:rPr lang="en-US" altLang="en-US" sz="20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2.Amy Cuddy: Your Body Language May Shape Who You Are</a:t>
            </a:r>
            <a:endParaRPr lang="en-US" altLang="en-US" sz="20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lvl="2" defTabSz="266700">
              <a:lnSpc>
                <a:spcPct val="0"/>
              </a:lnSpc>
              <a:spcBef>
                <a:spcPts val="2400"/>
              </a:spcBef>
              <a:spcAft>
                <a:spcPts val="0"/>
              </a:spcAft>
            </a:pPr>
            <a:r>
              <a:rPr lang="en-US" altLang="en-US" sz="20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https://www.youtube.com/watch?v=Ks-_Mh1QhMc</a:t>
            </a:r>
            <a:endParaRPr lang="en-US" altLang="en-US" sz="20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lvl="2" defTabSz="266700">
              <a:lnSpc>
                <a:spcPct val="0"/>
              </a:lnSpc>
              <a:spcBef>
                <a:spcPts val="2400"/>
              </a:spcBef>
              <a:spcAft>
                <a:spcPts val="0"/>
              </a:spcAft>
            </a:pPr>
            <a:r>
              <a:rPr lang="en-US" altLang="en-US" sz="20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3.Mark Bowden: 10 Ways to Have a Better Conversation</a:t>
            </a:r>
            <a:endParaRPr lang="en-US" altLang="en-US" sz="20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lvl="2" defTabSz="266700">
              <a:lnSpc>
                <a:spcPct val="0"/>
              </a:lnSpc>
              <a:spcBef>
                <a:spcPts val="2400"/>
              </a:spcBef>
              <a:spcAft>
                <a:spcPts val="0"/>
              </a:spcAft>
            </a:pPr>
            <a:r>
              <a:rPr lang="en-US" altLang="en-US" sz="20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https://www.youtube.com/watch?v=H6n3iNh4XLI</a:t>
            </a:r>
            <a:endParaRPr lang="en-US" altLang="en-US" sz="20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lvl="2" defTabSz="266700">
              <a:lnSpc>
                <a:spcPct val="0"/>
              </a:lnSpc>
              <a:spcBef>
                <a:spcPts val="2400"/>
              </a:spcBef>
              <a:spcAft>
                <a:spcPts val="0"/>
              </a:spcAft>
            </a:pPr>
            <a:r>
              <a:rPr lang="en-US" altLang="en-US" sz="20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4.Janine Driver: The Power of Body Language</a:t>
            </a:r>
            <a:endParaRPr lang="en-US" altLang="en-US" sz="20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lvl="2" defTabSz="266700">
              <a:lnSpc>
                <a:spcPct val="0"/>
              </a:lnSpc>
              <a:spcBef>
                <a:spcPts val="2400"/>
              </a:spcBef>
              <a:spcAft>
                <a:spcPts val="0"/>
              </a:spcAft>
            </a:pPr>
            <a:r>
              <a:rPr lang="en-US" altLang="en-US" sz="20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https://www.youtube.com/watch?v=Iy1krt06-Gs</a:t>
            </a:r>
            <a:endParaRPr lang="en-US" altLang="en-US" sz="20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lvl="2" defTabSz="266700">
              <a:lnSpc>
                <a:spcPct val="0"/>
              </a:lnSpc>
              <a:spcBef>
                <a:spcPts val="2400"/>
              </a:spcBef>
              <a:spcAft>
                <a:spcPts val="0"/>
              </a:spcAft>
            </a:pPr>
            <a:r>
              <a:rPr lang="en-US" altLang="en-US" sz="20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5.Celeste Headlee: 10 Ways to Have a Better Conversation</a:t>
            </a:r>
            <a:endParaRPr lang="en-US" altLang="en-US" sz="20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lvl="2" defTabSz="266700">
              <a:lnSpc>
                <a:spcPct val="0"/>
              </a:lnSpc>
              <a:spcBef>
                <a:spcPts val="2400"/>
              </a:spcBef>
              <a:spcAft>
                <a:spcPts val="0"/>
              </a:spcAft>
            </a:pPr>
            <a:r>
              <a:rPr lang="en-US" altLang="en-US" sz="2000" b="1">
                <a:solidFill>
                  <a:schemeClr val="tx1"/>
                </a:solidFill>
                <a:latin typeface="Times New Roman" panose="02020603050405020304"/>
                <a:ea typeface="MS Gothic" panose="020B0609070205080204" charset="-128"/>
              </a:rPr>
              <a:t>https://www.youtube.com/watch?v=H6n3iNh4XLI</a:t>
            </a:r>
            <a:endParaRPr lang="en-US" altLang="en-US" sz="20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  <a:p>
            <a:pPr lvl="2" defTabSz="266700">
              <a:lnSpc>
                <a:spcPct val="0"/>
              </a:lnSpc>
              <a:spcBef>
                <a:spcPts val="2400"/>
              </a:spcBef>
              <a:spcAft>
                <a:spcPts val="0"/>
              </a:spcAft>
            </a:pPr>
            <a:endParaRPr lang="en-US" altLang="en-US" sz="2000" b="1">
              <a:solidFill>
                <a:schemeClr val="tx1"/>
              </a:solidFill>
              <a:latin typeface="Times New Roman" panose="02020603050405020304"/>
              <a:ea typeface="MS Gothic" panose="020B0609070205080204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7305"/>
            <a:ext cx="2400300" cy="96456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7909"/>
            <a:ext cx="9144000" cy="7874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Disclaimer</a:t>
            </a:r>
            <a:endParaRPr lang="en-IN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6148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365" y="2132965"/>
            <a:ext cx="8334375" cy="3240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7305"/>
            <a:ext cx="2400300" cy="96456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3048000" y="2767965"/>
            <a:ext cx="466090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8000" dirty="0">
                <a:solidFill>
                  <a:srgbClr val="FF0000"/>
                </a:solidFill>
                <a:sym typeface="+mn-ea"/>
              </a:rPr>
              <a:t>Thank You</a:t>
            </a:r>
            <a:endParaRPr lang="en-IN" altLang="en-US" sz="8000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3535</Words>
  <Application>WPS Presentation</Application>
  <PresentationFormat>Widescreen</PresentationFormat>
  <Paragraphs>67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Times New Roman</vt:lpstr>
      <vt:lpstr>MS Gothic</vt:lpstr>
      <vt:lpstr>Times New Roman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Disclaimer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Death Battle</dc:title>
  <dc:creator>Harsh Khatter</dc:creator>
  <cp:lastModifiedBy>Sonia</cp:lastModifiedBy>
  <cp:revision>144</cp:revision>
  <dcterms:created xsi:type="dcterms:W3CDTF">2020-07-18T14:21:00Z</dcterms:created>
  <dcterms:modified xsi:type="dcterms:W3CDTF">2026-09-25T04:18:48Z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AB0AB457958B4E08AB87D60282055FF7_12</vt:lpwstr>
  </property>
  <property fmtid="{D5CDD505-2E9C-101B-9397-08002B2CF9AE}" pid="3" name="KSOProductBuildVer">
    <vt:lpwstr>1033-12.1.0.28485</vt:lpwstr>
  </property>
</Properties>
</file>